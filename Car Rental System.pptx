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7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10082-CB64-1FA5-D169-7A303D239F62}" v="78" dt="2026-09-01T01:50:03.755"/>
    <p1510:client id="{9BB629CA-901B-424B-9FBB-66D2EF1BC487}" v="301" dt="2026-08-31T18:54:42.429"/>
    <p1510:client id="{EA9FD083-AAB1-3159-6A3B-4FC5FC840915}" v="139" dt="2026-09-02T15:09:01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evron 2"/>
          <p:cNvSpPr/>
          <p:nvPr/>
        </p:nvSpPr>
        <p:spPr>
          <a:xfrm>
            <a:off x="3931920" y="1143000"/>
            <a:ext cx="4297680" cy="1828800"/>
          </a:xfrm>
          <a:prstGeom prst="chevron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22093" y="3246120"/>
            <a:ext cx="5717334" cy="70788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CAR RENTAL SYSTEM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73791" y="4114800"/>
            <a:ext cx="3613938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8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JAVA • SWING • JDBC • MYSQL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AAAAF"/>
                </a:solidFill>
                <a:latin typeface="Arial"/>
              </a:defRPr>
            </a:pPr>
            <a:r>
              <a:t>Desktop Application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065101-19BE-CEC6-07B8-02148161560E}"/>
              </a:ext>
            </a:extLst>
          </p:cNvPr>
          <p:cNvSpPr txBox="1"/>
          <p:nvPr/>
        </p:nvSpPr>
        <p:spPr>
          <a:xfrm>
            <a:off x="790786" y="5125297"/>
            <a:ext cx="45106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C000"/>
                </a:solidFill>
                <a:latin typeface="Times New Roman"/>
                <a:cs typeface="Times New Roman"/>
              </a:rPr>
              <a:t>Presented by</a:t>
            </a:r>
          </a:p>
          <a:p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Sameer Basha S &amp; Ranjithkumar K</a:t>
            </a:r>
          </a:p>
          <a:p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Computer Science and Engineering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9110E2A-E327-D282-A920-3B572796F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2967" y="1500716"/>
            <a:ext cx="1126066" cy="11260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286302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PROBLEM STATEMENT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4350486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200">
                <a:solidFill>
                  <a:srgbClr val="AAAAAF"/>
                </a:solidFill>
                <a:latin typeface="Arial"/>
              </a:defRPr>
            </a:pPr>
            <a:r>
              <a:rPr sz="1400">
                <a:latin typeface="Times New Roman"/>
                <a:cs typeface="Times New Roman"/>
              </a:rPr>
              <a:t>Why a dedicated car-rental management system is needed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23493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Manual rental records are difficult to maintain and update.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Vehicle availability can be unclear or inconsistent.</a:t>
            </a: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Customer and rental details need secure, organized storage.</a:t>
            </a: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Manual charge calculations can cause errors.</a:t>
            </a:r>
          </a:p>
          <a:p>
            <a:pPr>
              <a:spcAft>
                <a:spcPts val="1400"/>
              </a:spcAft>
              <a:defRPr sz="20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A centralized desktop system improves speed, accuracy and traceability.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D934AF-3C9B-E74E-A9B4-5083DE6BAB70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8" name="Chevron 2">
              <a:extLst>
                <a:ext uri="{FF2B5EF4-FFF2-40B4-BE49-F238E27FC236}">
                  <a16:creationId xmlns:a16="http://schemas.microsoft.com/office/drawing/2014/main" id="{E8E01020-CD01-68C6-92CF-69D30EBE0028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" name="Chevron 2">
              <a:extLst>
                <a:ext uri="{FF2B5EF4-FFF2-40B4-BE49-F238E27FC236}">
                  <a16:creationId xmlns:a16="http://schemas.microsoft.com/office/drawing/2014/main" id="{80A0A299-91A2-FA29-D9A4-83B137F85C3D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" name="Chevron 2">
              <a:extLst>
                <a:ext uri="{FF2B5EF4-FFF2-40B4-BE49-F238E27FC236}">
                  <a16:creationId xmlns:a16="http://schemas.microsoft.com/office/drawing/2014/main" id="{17FD8919-D416-14B4-0E02-74D135708E90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" name="Chevron 2">
              <a:extLst>
                <a:ext uri="{FF2B5EF4-FFF2-40B4-BE49-F238E27FC236}">
                  <a16:creationId xmlns:a16="http://schemas.microsoft.com/office/drawing/2014/main" id="{153F4ECC-0DA5-A20E-BD54-72BFC79D908D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AFD173-4FB6-8BAD-4399-1B0AE0E36FFB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13" name="Chevron 2">
              <a:extLst>
                <a:ext uri="{FF2B5EF4-FFF2-40B4-BE49-F238E27FC236}">
                  <a16:creationId xmlns:a16="http://schemas.microsoft.com/office/drawing/2014/main" id="{A6B7771E-8441-4C5C-5E69-023C26A9FC43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Chevron 2">
              <a:extLst>
                <a:ext uri="{FF2B5EF4-FFF2-40B4-BE49-F238E27FC236}">
                  <a16:creationId xmlns:a16="http://schemas.microsoft.com/office/drawing/2014/main" id="{AF8DB05C-8EE9-09A8-CAA6-5D30C3F15913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5" name="Chevron 2">
              <a:extLst>
                <a:ext uri="{FF2B5EF4-FFF2-40B4-BE49-F238E27FC236}">
                  <a16:creationId xmlns:a16="http://schemas.microsoft.com/office/drawing/2014/main" id="{C9669E57-1D0E-025B-7D22-6A59BD8A1D5D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" name="Chevron 2">
              <a:extLst>
                <a:ext uri="{FF2B5EF4-FFF2-40B4-BE49-F238E27FC236}">
                  <a16:creationId xmlns:a16="http://schemas.microsoft.com/office/drawing/2014/main" id="{BD57BD2B-A2AE-97F4-E3AD-BC22FB856485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457724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OBJECTIVES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2260555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200">
                <a:solidFill>
                  <a:srgbClr val="AAAAAF"/>
                </a:solidFill>
                <a:latin typeface="Arial"/>
              </a:defRPr>
            </a:pPr>
            <a:r>
              <a:rPr sz="1400">
                <a:latin typeface="Times New Roman"/>
                <a:cs typeface="Times New Roman"/>
              </a:rPr>
              <a:t>Core goals of the application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6002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554480"/>
            <a:ext cx="2991140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Vehicle Management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Add, view, update and delete vehicle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29000" cy="16002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1554480"/>
            <a:ext cx="2557110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Customer Management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Maintain customer and license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1554480"/>
            <a:ext cx="3198311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Rental Management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Create rentals and track active/returned vehicles.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3429000" cy="16002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3611879"/>
            <a:ext cx="2841291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Billing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Calculate rental charges based on duration.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74720"/>
            <a:ext cx="3429000" cy="16002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3611879"/>
            <a:ext cx="2430474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History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Review previous rental transactions.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29E6FA-1C8C-69C1-389C-5DC046E99D26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17" name="Chevron 2">
              <a:extLst>
                <a:ext uri="{FF2B5EF4-FFF2-40B4-BE49-F238E27FC236}">
                  <a16:creationId xmlns:a16="http://schemas.microsoft.com/office/drawing/2014/main" id="{AB829649-6FFE-B083-B2FF-ECD749382B84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8" name="Chevron 2">
              <a:extLst>
                <a:ext uri="{FF2B5EF4-FFF2-40B4-BE49-F238E27FC236}">
                  <a16:creationId xmlns:a16="http://schemas.microsoft.com/office/drawing/2014/main" id="{2CA93C3D-C805-76C6-97E0-55B8543E6352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9" name="Chevron 2">
              <a:extLst>
                <a:ext uri="{FF2B5EF4-FFF2-40B4-BE49-F238E27FC236}">
                  <a16:creationId xmlns:a16="http://schemas.microsoft.com/office/drawing/2014/main" id="{23274BB2-4E8D-5A06-7DE3-8FBCAF1E348C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0" name="Chevron 2">
              <a:extLst>
                <a:ext uri="{FF2B5EF4-FFF2-40B4-BE49-F238E27FC236}">
                  <a16:creationId xmlns:a16="http://schemas.microsoft.com/office/drawing/2014/main" id="{B646CC4C-4F32-3165-D24B-A9AF03CA8A2C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AFE1E54-C4CC-26B3-98B0-895A45A6BB02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22" name="Chevron 2">
              <a:extLst>
                <a:ext uri="{FF2B5EF4-FFF2-40B4-BE49-F238E27FC236}">
                  <a16:creationId xmlns:a16="http://schemas.microsoft.com/office/drawing/2014/main" id="{5D46E185-D8FE-2728-9499-DF86B349B4A9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3" name="Chevron 2">
              <a:extLst>
                <a:ext uri="{FF2B5EF4-FFF2-40B4-BE49-F238E27FC236}">
                  <a16:creationId xmlns:a16="http://schemas.microsoft.com/office/drawing/2014/main" id="{E4C841D0-CF4A-4607-62E0-E3E46451CA68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4" name="Chevron 2">
              <a:extLst>
                <a:ext uri="{FF2B5EF4-FFF2-40B4-BE49-F238E27FC236}">
                  <a16:creationId xmlns:a16="http://schemas.microsoft.com/office/drawing/2014/main" id="{A3C2E587-1D26-8D7A-3E32-5E19AB7C0D51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5" name="Chevron 2">
              <a:extLst>
                <a:ext uri="{FF2B5EF4-FFF2-40B4-BE49-F238E27FC236}">
                  <a16:creationId xmlns:a16="http://schemas.microsoft.com/office/drawing/2014/main" id="{F388E7EA-3420-77DF-34C6-7264C32CD069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310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KEY FEATURES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3502882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200">
                <a:solidFill>
                  <a:srgbClr val="AAAAAF"/>
                </a:solidFill>
                <a:latin typeface="Arial"/>
              </a:defRPr>
            </a:pPr>
            <a:r>
              <a:rPr sz="1400">
                <a:latin typeface="Times New Roman"/>
                <a:cs typeface="Times New Roman"/>
              </a:rPr>
              <a:t>Functional modules in the desktop application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36881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Admin login and dashboard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1400"/>
              </a:spcAft>
              <a:defRPr sz="19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Car registration and availability management</a:t>
            </a:r>
          </a:p>
          <a:p>
            <a:pPr>
              <a:spcAft>
                <a:spcPts val="1400"/>
              </a:spcAft>
              <a:defRPr sz="19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Customer registration and profile management</a:t>
            </a:r>
          </a:p>
          <a:p>
            <a:pPr>
              <a:spcAft>
                <a:spcPts val="1400"/>
              </a:spcAft>
              <a:defRPr sz="19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Car rental and return workflow</a:t>
            </a:r>
          </a:p>
          <a:p>
            <a:pPr>
              <a:spcAft>
                <a:spcPts val="1400"/>
              </a:spcAft>
              <a:defRPr sz="19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Automatic rental amount calculation</a:t>
            </a:r>
          </a:p>
          <a:p>
            <a:pPr>
              <a:spcAft>
                <a:spcPts val="1400"/>
              </a:spcAft>
              <a:defRPr sz="19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Rental history and status tracking</a:t>
            </a:r>
          </a:p>
          <a:p>
            <a:pPr>
              <a:spcAft>
                <a:spcPts val="1400"/>
              </a:spcAft>
              <a:defRPr sz="19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Database-backed CRUD operations</a:t>
            </a:r>
          </a:p>
          <a:p>
            <a:pPr>
              <a:spcAft>
                <a:spcPts val="1400"/>
              </a:spcAft>
              <a:defRPr sz="19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Validation and user-friendly Swing dialogs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50C219-0C38-077D-684F-0BECE2F068C0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8" name="Chevron 2">
              <a:extLst>
                <a:ext uri="{FF2B5EF4-FFF2-40B4-BE49-F238E27FC236}">
                  <a16:creationId xmlns:a16="http://schemas.microsoft.com/office/drawing/2014/main" id="{76418A96-6B87-BFEC-3900-DB0843BCD68A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" name="Chevron 2">
              <a:extLst>
                <a:ext uri="{FF2B5EF4-FFF2-40B4-BE49-F238E27FC236}">
                  <a16:creationId xmlns:a16="http://schemas.microsoft.com/office/drawing/2014/main" id="{FE72DA0B-0B64-23FD-D9B4-F4184E708792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" name="Chevron 2">
              <a:extLst>
                <a:ext uri="{FF2B5EF4-FFF2-40B4-BE49-F238E27FC236}">
                  <a16:creationId xmlns:a16="http://schemas.microsoft.com/office/drawing/2014/main" id="{AB758E3A-F375-7D6C-AC77-3847553F8090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" name="Chevron 2">
              <a:extLst>
                <a:ext uri="{FF2B5EF4-FFF2-40B4-BE49-F238E27FC236}">
                  <a16:creationId xmlns:a16="http://schemas.microsoft.com/office/drawing/2014/main" id="{C6244231-6138-A327-BEB0-AF00C77F315D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B4519A-0477-E301-A928-A2368FFD0FC4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13" name="Chevron 2">
              <a:extLst>
                <a:ext uri="{FF2B5EF4-FFF2-40B4-BE49-F238E27FC236}">
                  <a16:creationId xmlns:a16="http://schemas.microsoft.com/office/drawing/2014/main" id="{D720DD79-1D9D-1C25-F473-C94A83B914E4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Chevron 2">
              <a:extLst>
                <a:ext uri="{FF2B5EF4-FFF2-40B4-BE49-F238E27FC236}">
                  <a16:creationId xmlns:a16="http://schemas.microsoft.com/office/drawing/2014/main" id="{C0FF64FE-384A-8923-ED60-37E9E5884BB1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5" name="Chevron 2">
              <a:extLst>
                <a:ext uri="{FF2B5EF4-FFF2-40B4-BE49-F238E27FC236}">
                  <a16:creationId xmlns:a16="http://schemas.microsoft.com/office/drawing/2014/main" id="{67C7F705-65B9-DF22-2D2D-79B057E861EE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" name="Chevron 2">
              <a:extLst>
                <a:ext uri="{FF2B5EF4-FFF2-40B4-BE49-F238E27FC236}">
                  <a16:creationId xmlns:a16="http://schemas.microsoft.com/office/drawing/2014/main" id="{E875C2FF-7ED8-1605-434B-1C776FD1D824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AF"/>
                </a:solidFill>
                <a:latin typeface="Arial"/>
              </a:defRPr>
            </a:pPr>
            <a:r>
              <a:t>Layered architecture used for maintainability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376680"/>
            <a:ext cx="10139680" cy="512064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1170513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SWING UI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3240" y="141732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5F5"/>
                </a:solidFill>
                <a:latin typeface="Arial"/>
              </a:defRPr>
            </a:pPr>
            <a:r>
              <a:t>LoginFrame • Dashboard • CarPanel • RentalPanel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96008"/>
            <a:ext cx="10139680" cy="501904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7760" y="2177288"/>
            <a:ext cx="1640193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CONTROLLER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32760" y="2177288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5F5"/>
                </a:solidFill>
                <a:latin typeface="Arial"/>
              </a:defRPr>
            </a:pPr>
            <a:r>
              <a:t>Handles application actions and coordinates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9960" y="2845816"/>
            <a:ext cx="10139680" cy="501904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927096"/>
            <a:ext cx="1078629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3080" y="2876296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5F5"/>
                </a:solidFill>
                <a:latin typeface="Arial"/>
              </a:defRPr>
            </a:pPr>
            <a:r>
              <a:t>Business rules and rental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626104"/>
            <a:ext cx="10139680" cy="512064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656583"/>
            <a:ext cx="151663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REPOSITORY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63240" y="3656583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5F5"/>
                </a:solidFill>
                <a:latin typeface="Arial"/>
              </a:defRPr>
            </a:pPr>
            <a:r>
              <a:t>CRUD and database access abstraction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160" y="4325112"/>
            <a:ext cx="10139680" cy="512064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7760" y="4355592"/>
            <a:ext cx="1705916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JDBC + MYSQL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3240" y="4355592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5F5"/>
                </a:solidFill>
                <a:latin typeface="Arial"/>
              </a:defRPr>
            </a:pPr>
            <a:r>
              <a:t>Persistent storage and SQL execution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EBD1B13-6A90-0D20-9E19-64527D180FA4}"/>
              </a:ext>
            </a:extLst>
          </p:cNvPr>
          <p:cNvGrpSpPr/>
          <p:nvPr/>
        </p:nvGrpSpPr>
        <p:grpSpPr>
          <a:xfrm>
            <a:off x="674793" y="5557095"/>
            <a:ext cx="10372514" cy="1077385"/>
            <a:chOff x="735753" y="5577415"/>
            <a:chExt cx="10372514" cy="1077385"/>
          </a:xfrm>
        </p:grpSpPr>
        <p:sp>
          <p:nvSpPr>
            <p:cNvPr id="22" name="Chevron 2">
              <a:extLst>
                <a:ext uri="{FF2B5EF4-FFF2-40B4-BE49-F238E27FC236}">
                  <a16:creationId xmlns:a16="http://schemas.microsoft.com/office/drawing/2014/main" id="{DEA406F5-5D8A-EB34-068C-B1366A6C2508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3" name="Chevron 2">
              <a:extLst>
                <a:ext uri="{FF2B5EF4-FFF2-40B4-BE49-F238E27FC236}">
                  <a16:creationId xmlns:a16="http://schemas.microsoft.com/office/drawing/2014/main" id="{37E992E1-D3CB-E3F4-6CE6-AAECDC4F3729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4" name="Chevron 2">
              <a:extLst>
                <a:ext uri="{FF2B5EF4-FFF2-40B4-BE49-F238E27FC236}">
                  <a16:creationId xmlns:a16="http://schemas.microsoft.com/office/drawing/2014/main" id="{AFE03F93-DA13-49E7-94FC-67A4ECD5DA7E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5" name="Chevron 2">
              <a:extLst>
                <a:ext uri="{FF2B5EF4-FFF2-40B4-BE49-F238E27FC236}">
                  <a16:creationId xmlns:a16="http://schemas.microsoft.com/office/drawing/2014/main" id="{7931B94C-60DC-6E12-E884-63960344DB8B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083234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TECHNOLOGY STACK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AF"/>
                </a:solidFill>
                <a:latin typeface="Arial"/>
              </a:defRPr>
            </a:pPr>
            <a:r>
              <a:t>Technologies appropriate to the implemented desktop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69164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1959191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Java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Core programming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69164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554480"/>
            <a:ext cx="2186817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Java Swing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Desktop graphical user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429000" cy="169164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54480"/>
            <a:ext cx="2016899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JDBC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Java-to-database connectivity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3429000" cy="169164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703320"/>
            <a:ext cx="1391728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MySQL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Relational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566160"/>
            <a:ext cx="3429000" cy="169164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3703320"/>
            <a:ext cx="2513830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Maven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Dependency and project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566160"/>
            <a:ext cx="3429000" cy="169164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3703320"/>
            <a:ext cx="1835759" cy="6283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F5BE19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Eclipse IDE</a:t>
            </a:r>
            <a:endParaRPr lang="en-US">
              <a:latin typeface="Times New Roman"/>
              <a:cs typeface="Times New Roman"/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Development environment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2580BE-4590-791C-9346-C956D04B658F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20" name="Chevron 2">
              <a:extLst>
                <a:ext uri="{FF2B5EF4-FFF2-40B4-BE49-F238E27FC236}">
                  <a16:creationId xmlns:a16="http://schemas.microsoft.com/office/drawing/2014/main" id="{9EDD980A-4A6A-9C0B-65E6-C25348E5B5AD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1" name="Chevron 2">
              <a:extLst>
                <a:ext uri="{FF2B5EF4-FFF2-40B4-BE49-F238E27FC236}">
                  <a16:creationId xmlns:a16="http://schemas.microsoft.com/office/drawing/2014/main" id="{6074BE32-6573-38B3-915B-D4DA30F590CA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2" name="Chevron 2">
              <a:extLst>
                <a:ext uri="{FF2B5EF4-FFF2-40B4-BE49-F238E27FC236}">
                  <a16:creationId xmlns:a16="http://schemas.microsoft.com/office/drawing/2014/main" id="{76BDA904-9DEB-29C5-8347-088CA13DD0FA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3" name="Chevron 2">
              <a:extLst>
                <a:ext uri="{FF2B5EF4-FFF2-40B4-BE49-F238E27FC236}">
                  <a16:creationId xmlns:a16="http://schemas.microsoft.com/office/drawing/2014/main" id="{959EA180-331C-966B-4F5A-CDB50A4FDBE3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785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APPLICATION WORKFLOW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AF"/>
                </a:solidFill>
                <a:latin typeface="Arial"/>
              </a:defRPr>
            </a:pPr>
            <a:r>
              <a:t>Typical flow from login to rental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" y="1711960"/>
            <a:ext cx="1298448" cy="96012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90" y="2023872"/>
            <a:ext cx="569387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Login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880616" y="1977136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191512" y="1711960"/>
            <a:ext cx="1298448" cy="96012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25164" y="2023872"/>
            <a:ext cx="90922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Dashboard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508248" y="1977136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19144" y="1711960"/>
            <a:ext cx="1298448" cy="96012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70147" y="2023872"/>
            <a:ext cx="833882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Customer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135880" y="1977136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46776" y="1711960"/>
            <a:ext cx="1298448" cy="96012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57872" y="2023872"/>
            <a:ext cx="1093376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Available Car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763512" y="1977136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74408" y="1711960"/>
            <a:ext cx="1298448" cy="96012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1690" y="2023872"/>
            <a:ext cx="620683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Rental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8391143" y="1977136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02040" y="1711960"/>
            <a:ext cx="1298448" cy="96012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0627" y="2023872"/>
            <a:ext cx="679994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Return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10018776" y="1977136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329672" y="1711960"/>
            <a:ext cx="1298448" cy="96012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38097" y="2023872"/>
            <a:ext cx="681597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2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History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6640" y="30124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DCE1"/>
                </a:solidFill>
                <a:latin typeface="Arial"/>
              </a:defRPr>
            </a:pPr>
            <a:r>
              <a:t>Every transaction follows the service → repository → JDBC → MySQL flow.</a:t>
            </a:r>
          </a:p>
        </p:txBody>
      </p: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43B6728C-277B-EA10-88EB-8BB03FC034E7}"/>
              </a:ext>
            </a:extLst>
          </p:cNvPr>
          <p:cNvSpPr/>
          <p:nvPr/>
        </p:nvSpPr>
        <p:spPr>
          <a:xfrm>
            <a:off x="856487" y="4038599"/>
            <a:ext cx="1918208" cy="9398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latin typeface="Times New Roman"/>
                <a:ea typeface="Calibri"/>
                <a:cs typeface="Times New Roman"/>
              </a:rPr>
              <a:t>Presentat</a:t>
            </a:r>
            <a:r>
              <a:rPr lang="en-US" dirty="0">
                <a:latin typeface="Times New Roman"/>
                <a:ea typeface="Calibri"/>
                <a:cs typeface="Times New Roman"/>
              </a:rPr>
              <a:t>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F77F0DC-06F6-1B6D-1AEA-C540D529C6C5}"/>
              </a:ext>
            </a:extLst>
          </p:cNvPr>
          <p:cNvSpPr/>
          <p:nvPr/>
        </p:nvSpPr>
        <p:spPr>
          <a:xfrm>
            <a:off x="3010406" y="4038598"/>
            <a:ext cx="1918208" cy="9398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Controller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37C27811-083D-7A7E-A726-9C4783541AA2}"/>
              </a:ext>
            </a:extLst>
          </p:cNvPr>
          <p:cNvSpPr/>
          <p:nvPr/>
        </p:nvSpPr>
        <p:spPr>
          <a:xfrm>
            <a:off x="9411206" y="4038598"/>
            <a:ext cx="1918208" cy="9398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Database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CB5FF811-58D5-EB3A-7857-2B769264A876}"/>
              </a:ext>
            </a:extLst>
          </p:cNvPr>
          <p:cNvSpPr/>
          <p:nvPr/>
        </p:nvSpPr>
        <p:spPr>
          <a:xfrm>
            <a:off x="7247126" y="4038598"/>
            <a:ext cx="1918208" cy="9398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Repository</a:t>
            </a: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6DA5440A-94F9-5B8C-56A7-2BA026AD75B0}"/>
              </a:ext>
            </a:extLst>
          </p:cNvPr>
          <p:cNvSpPr/>
          <p:nvPr/>
        </p:nvSpPr>
        <p:spPr>
          <a:xfrm>
            <a:off x="5113526" y="4038598"/>
            <a:ext cx="1918208" cy="939800"/>
          </a:xfrm>
          <a:prstGeom prst="roundRect">
            <a:avLst/>
          </a:prstGeom>
          <a:solidFill>
            <a:srgbClr val="16161B"/>
          </a:solidFill>
          <a:ln>
            <a:solidFill>
              <a:srgbClr val="F5B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Service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3" name="Right Arrow 16">
            <a:extLst>
              <a:ext uri="{FF2B5EF4-FFF2-40B4-BE49-F238E27FC236}">
                <a16:creationId xmlns:a16="http://schemas.microsoft.com/office/drawing/2014/main" id="{F6B71931-54C8-035E-3DA4-9D7F2CBFBCC9}"/>
              </a:ext>
            </a:extLst>
          </p:cNvPr>
          <p:cNvSpPr/>
          <p:nvPr/>
        </p:nvSpPr>
        <p:spPr>
          <a:xfrm>
            <a:off x="2770631" y="4324095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16">
            <a:extLst>
              <a:ext uri="{FF2B5EF4-FFF2-40B4-BE49-F238E27FC236}">
                <a16:creationId xmlns:a16="http://schemas.microsoft.com/office/drawing/2014/main" id="{816749FE-556E-5C01-1222-2A401A688C53}"/>
              </a:ext>
            </a:extLst>
          </p:cNvPr>
          <p:cNvSpPr/>
          <p:nvPr/>
        </p:nvSpPr>
        <p:spPr>
          <a:xfrm>
            <a:off x="4934710" y="4324094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ight Arrow 16">
            <a:extLst>
              <a:ext uri="{FF2B5EF4-FFF2-40B4-BE49-F238E27FC236}">
                <a16:creationId xmlns:a16="http://schemas.microsoft.com/office/drawing/2014/main" id="{C8587508-B038-5C11-D16E-B5E1E3E5A510}"/>
              </a:ext>
            </a:extLst>
          </p:cNvPr>
          <p:cNvSpPr/>
          <p:nvPr/>
        </p:nvSpPr>
        <p:spPr>
          <a:xfrm>
            <a:off x="7037830" y="4324094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16">
            <a:extLst>
              <a:ext uri="{FF2B5EF4-FFF2-40B4-BE49-F238E27FC236}">
                <a16:creationId xmlns:a16="http://schemas.microsoft.com/office/drawing/2014/main" id="{390B4AA0-C487-D89E-FBDD-A73E521F394B}"/>
              </a:ext>
            </a:extLst>
          </p:cNvPr>
          <p:cNvSpPr/>
          <p:nvPr/>
        </p:nvSpPr>
        <p:spPr>
          <a:xfrm>
            <a:off x="9171430" y="4324094"/>
            <a:ext cx="274320" cy="365760"/>
          </a:xfrm>
          <a:prstGeom prst="rightArrow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ABE21CF-71E5-A345-B8F7-AA29CE4E68BC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39" name="Chevron 2">
              <a:extLst>
                <a:ext uri="{FF2B5EF4-FFF2-40B4-BE49-F238E27FC236}">
                  <a16:creationId xmlns:a16="http://schemas.microsoft.com/office/drawing/2014/main" id="{2F35CB1F-A660-0787-749F-A07F779CD7D9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0" name="Chevron 2">
              <a:extLst>
                <a:ext uri="{FF2B5EF4-FFF2-40B4-BE49-F238E27FC236}">
                  <a16:creationId xmlns:a16="http://schemas.microsoft.com/office/drawing/2014/main" id="{575E1706-A8DF-F7AD-D8EF-F7F86AA68D5D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1" name="Chevron 2">
              <a:extLst>
                <a:ext uri="{FF2B5EF4-FFF2-40B4-BE49-F238E27FC236}">
                  <a16:creationId xmlns:a16="http://schemas.microsoft.com/office/drawing/2014/main" id="{40E5643E-7950-177E-2C11-20E6FBDE0C32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2" name="Chevron 2">
              <a:extLst>
                <a:ext uri="{FF2B5EF4-FFF2-40B4-BE49-F238E27FC236}">
                  <a16:creationId xmlns:a16="http://schemas.microsoft.com/office/drawing/2014/main" id="{804A3FC5-5940-88B5-9DFD-2F1DAC7C467F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4255C-A79A-F8B1-B44E-B75F319EB134}"/>
              </a:ext>
            </a:extLst>
          </p:cNvPr>
          <p:cNvSpPr txBox="1"/>
          <p:nvPr/>
        </p:nvSpPr>
        <p:spPr>
          <a:xfrm>
            <a:off x="883920" y="1336040"/>
            <a:ext cx="1022096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900" b="1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Online Booking</a:t>
            </a:r>
            <a:r>
              <a:rPr lang="en-US" sz="19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 – Customers can reserve cars through a website or mobile app. </a:t>
            </a:r>
            <a:endParaRPr lang="en-US" sz="19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900" b="1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Online Payment</a:t>
            </a:r>
            <a:r>
              <a:rPr lang="en-US" sz="19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 – Add UPI/card payment for rental charges. </a:t>
            </a:r>
            <a:endParaRPr lang="en-US" sz="19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900" b="1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Email/SMS Notifications</a:t>
            </a:r>
            <a:r>
              <a:rPr lang="en-US" sz="19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 – Send booking and return reminders. </a:t>
            </a:r>
            <a:endParaRPr lang="en-US" sz="19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900" b="1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GPS Tracking</a:t>
            </a:r>
            <a:r>
              <a:rPr lang="en-US" sz="19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 – Track the location of rented vehicles. </a:t>
            </a:r>
            <a:endParaRPr lang="en-US" sz="19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900" b="1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Customer Reviews</a:t>
            </a:r>
            <a:r>
              <a:rPr lang="en-US" sz="19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 – Allow customers to rate and review cars/services.</a:t>
            </a:r>
            <a:endParaRPr lang="en-US" sz="19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l"/>
            <a:endParaRPr lang="en-US" sz="19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E7FA3-1CAA-2992-23C0-6F4FF1C2709D}"/>
              </a:ext>
            </a:extLst>
          </p:cNvPr>
          <p:cNvSpPr txBox="1"/>
          <p:nvPr/>
        </p:nvSpPr>
        <p:spPr>
          <a:xfrm>
            <a:off x="883919" y="548640"/>
            <a:ext cx="40538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Future Enhancements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C48A7E-FA35-6751-F11E-EF8783B5909E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10" name="Chevron 2">
              <a:extLst>
                <a:ext uri="{FF2B5EF4-FFF2-40B4-BE49-F238E27FC236}">
                  <a16:creationId xmlns:a16="http://schemas.microsoft.com/office/drawing/2014/main" id="{750DBC35-F969-91FB-F5BA-A565F5D33A57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" name="Chevron 2">
              <a:extLst>
                <a:ext uri="{FF2B5EF4-FFF2-40B4-BE49-F238E27FC236}">
                  <a16:creationId xmlns:a16="http://schemas.microsoft.com/office/drawing/2014/main" id="{E126E501-70FF-6B9A-BF05-B241A70CE1AB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" name="Chevron 2">
              <a:extLst>
                <a:ext uri="{FF2B5EF4-FFF2-40B4-BE49-F238E27FC236}">
                  <a16:creationId xmlns:a16="http://schemas.microsoft.com/office/drawing/2014/main" id="{00FE3F6E-4EC6-4852-0A5C-E15814BFF1A2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" name="Chevron 2">
              <a:extLst>
                <a:ext uri="{FF2B5EF4-FFF2-40B4-BE49-F238E27FC236}">
                  <a16:creationId xmlns:a16="http://schemas.microsoft.com/office/drawing/2014/main" id="{CD4A4127-AF65-D3E0-0BBE-EBC8A2EBD56E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25157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SCREENSHOTS / PROJECT IMAGES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30D06F-BB79-CF61-EA88-2FF640572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876" y="1720003"/>
            <a:ext cx="5847927" cy="411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2347A3-6985-F50F-4BC4-332DA4E840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8" b="-230"/>
          <a:stretch>
            <a:fillRect/>
          </a:stretch>
        </p:blipFill>
        <p:spPr>
          <a:xfrm>
            <a:off x="200660" y="1686560"/>
            <a:ext cx="5786129" cy="41351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25157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SCREENSHOTS / PROJECT IMAGES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5BE19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2B139B-C869-024C-D16A-29624D440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5" y="2582863"/>
            <a:ext cx="3712635" cy="29940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95F374-7A55-38BC-F4BD-6E2C13530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916" y="1714498"/>
            <a:ext cx="7418917" cy="4201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7550" y="393277"/>
            <a:ext cx="2770310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000" b="1">
                <a:solidFill>
                  <a:srgbClr val="F5C400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CONCLUSION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959273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BEBE"/>
                </a:solidFill>
                <a:latin typeface="Arial"/>
              </a:defRPr>
            </a:pPr>
            <a:r>
              <a:t>Project outcome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513" y="1415627"/>
            <a:ext cx="10149840" cy="25878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BEBEB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The Car Rental System makes vehicle rental simple and efficient.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1300"/>
              </a:spcAft>
              <a:defRPr sz="1800">
                <a:solidFill>
                  <a:srgbClr val="EBEBEB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It helps manage customers, cars, bookings, and rental transactions.</a:t>
            </a:r>
          </a:p>
          <a:p>
            <a:pPr>
              <a:spcAft>
                <a:spcPts val="1300"/>
              </a:spcAft>
              <a:defRPr sz="1800">
                <a:solidFill>
                  <a:srgbClr val="EBEBEB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Java Swing provides an easy-to-use desktop graphical interface.</a:t>
            </a:r>
          </a:p>
          <a:p>
            <a:pPr>
              <a:spcAft>
                <a:spcPts val="1300"/>
              </a:spcAft>
              <a:defRPr sz="1800">
                <a:solidFill>
                  <a:srgbClr val="EBEBEB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JDBC and MySQL provide reliable database connectivity and data management.</a:t>
            </a:r>
          </a:p>
          <a:p>
            <a:pPr>
              <a:spcAft>
                <a:spcPts val="1300"/>
              </a:spcAft>
              <a:defRPr sz="1800">
                <a:solidFill>
                  <a:srgbClr val="EBEBEB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The project demonstrates practical use of Java, OOP, JDBC, and MySQL.</a:t>
            </a:r>
          </a:p>
          <a:p>
            <a:pPr>
              <a:spcAft>
                <a:spcPts val="1300"/>
              </a:spcAft>
              <a:defRPr sz="1800">
                <a:solidFill>
                  <a:srgbClr val="EBEBEB"/>
                </a:solidFill>
                <a:latin typeface="Arial"/>
              </a:defRPr>
            </a:pPr>
            <a:r>
              <a:rPr>
                <a:latin typeface="Times New Roman"/>
                <a:cs typeface="Times New Roman"/>
              </a:rPr>
              <a:t>• Future enhancements can include online booking, payment integration, and admin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3233" y="4402667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1">
                <a:solidFill>
                  <a:srgbClr val="F5C400"/>
                </a:solidFill>
                <a:latin typeface="Arial"/>
              </a:defRPr>
            </a:pPr>
            <a:r>
              <a:t>“A smart system for a faster and easier car rental experience.”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826749-3960-13F8-9E26-184369C001DC}"/>
              </a:ext>
            </a:extLst>
          </p:cNvPr>
          <p:cNvGrpSpPr/>
          <p:nvPr/>
        </p:nvGrpSpPr>
        <p:grpSpPr>
          <a:xfrm>
            <a:off x="735753" y="5577415"/>
            <a:ext cx="10372514" cy="1077385"/>
            <a:chOff x="735753" y="5577415"/>
            <a:chExt cx="10372514" cy="1077385"/>
          </a:xfrm>
        </p:grpSpPr>
        <p:sp>
          <p:nvSpPr>
            <p:cNvPr id="8" name="Chevron 2">
              <a:extLst>
                <a:ext uri="{FF2B5EF4-FFF2-40B4-BE49-F238E27FC236}">
                  <a16:creationId xmlns:a16="http://schemas.microsoft.com/office/drawing/2014/main" id="{3F461938-EE94-7BBD-BCE1-96843BCC3012}"/>
                </a:ext>
              </a:extLst>
            </p:cNvPr>
            <p:cNvSpPr/>
            <p:nvPr/>
          </p:nvSpPr>
          <p:spPr>
            <a:xfrm>
              <a:off x="735753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" name="Chevron 2">
              <a:extLst>
                <a:ext uri="{FF2B5EF4-FFF2-40B4-BE49-F238E27FC236}">
                  <a16:creationId xmlns:a16="http://schemas.microsoft.com/office/drawing/2014/main" id="{C1262772-5C7A-D0DA-7BAA-6CA27D6C6982}"/>
                </a:ext>
              </a:extLst>
            </p:cNvPr>
            <p:cNvSpPr/>
            <p:nvPr/>
          </p:nvSpPr>
          <p:spPr>
            <a:xfrm>
              <a:off x="8292253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" name="Chevron 2">
              <a:extLst>
                <a:ext uri="{FF2B5EF4-FFF2-40B4-BE49-F238E27FC236}">
                  <a16:creationId xmlns:a16="http://schemas.microsoft.com/office/drawing/2014/main" id="{39DBA77B-85A7-4CEE-D3EA-FA9A768123F3}"/>
                </a:ext>
              </a:extLst>
            </p:cNvPr>
            <p:cNvSpPr/>
            <p:nvPr/>
          </p:nvSpPr>
          <p:spPr>
            <a:xfrm>
              <a:off x="5794586" y="5577415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" name="Chevron 2">
              <a:extLst>
                <a:ext uri="{FF2B5EF4-FFF2-40B4-BE49-F238E27FC236}">
                  <a16:creationId xmlns:a16="http://schemas.microsoft.com/office/drawing/2014/main" id="{870F015C-9E54-4346-F6D0-1FE2D1E80E86}"/>
                </a:ext>
              </a:extLst>
            </p:cNvPr>
            <p:cNvSpPr/>
            <p:nvPr/>
          </p:nvSpPr>
          <p:spPr>
            <a:xfrm>
              <a:off x="3275752" y="5577416"/>
              <a:ext cx="2816014" cy="1077384"/>
            </a:xfrm>
            <a:prstGeom prst="chevron">
              <a:avLst/>
            </a:prstGeom>
            <a:solidFill>
              <a:srgbClr val="F5BE1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201</cp:revision>
  <dcterms:created xsi:type="dcterms:W3CDTF">2013-01-27T09:14:16Z</dcterms:created>
  <dcterms:modified xsi:type="dcterms:W3CDTF">2026-09-02T15:09:26Z</dcterms:modified>
  <cp:category/>
</cp:coreProperties>
</file>